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11"/>
  </p:handoutMasterIdLst>
  <p:sldIdLst>
    <p:sldId id="256" r:id="rId3"/>
    <p:sldId id="257" r:id="rId4"/>
    <p:sldId id="258" r:id="rId5"/>
    <p:sldId id="259" r:id="rId6"/>
    <p:sldId id="260" r:id="rId7"/>
    <p:sldId id="261" r:id="rId9"/>
    <p:sldId id="262"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BAEB03-881B-42A4-B0E7-1B833F429063}"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EEED30-6B53-43D9-A534-9E1B6FCF0C6B}" type="slidenum">
              <a:rPr lang="en-US" smtClean="0"/>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B4D7C9-CB16-4718-9E18-24501B0E85E0}"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0CEE14-0E22-4E6E-B300-80254050FDBB}" type="slidenum">
              <a:rPr lang="en-US" smtClean="0"/>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B0CEE14-0E22-4E6E-B300-80254050FDBB}"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9156700" cy="6858000"/>
          </a:xfrm>
          <a:prstGeom prst="rect">
            <a:avLst/>
          </a:prstGeom>
          <a:noFill/>
          <a:ln w="9525">
            <a:noFill/>
          </a:ln>
        </p:spPr>
      </p:pic>
      <p:sp>
        <p:nvSpPr>
          <p:cNvPr id="2051" name="Rectangle 3"/>
          <p:cNvSpPr>
            <a:spLocks noGrp="1" noChangeArrowheads="1"/>
          </p:cNvSpPr>
          <p:nvPr>
            <p:ph type="ctrTitle"/>
          </p:nvPr>
        </p:nvSpPr>
        <p:spPr>
          <a:xfrm>
            <a:off x="468313" y="1196975"/>
            <a:ext cx="8207375"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469900" y="2422525"/>
            <a:ext cx="8212138"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D1B4EA38-CA95-4D84-A3DC-A293DF27C83A}" type="datetime1">
              <a:rPr lang="en-US" smtClean="0"/>
            </a:fld>
            <a:endParaRPr lang="en-US"/>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1A76B34C-F6B3-4E97-8654-84B611A81F75}"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1B1B24C3-0E70-42D7-83D8-8FF2F1923531}" type="datetime1">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1A76B34C-F6B3-4E97-8654-84B611A81F75}"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85D5DA7B-9EEA-4BB6-8D6F-5DCC41F40B17}" type="datetime1">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1A76B34C-F6B3-4E97-8654-84B611A81F75}"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026133FE-F752-481C-A286-F01C84EC1624}" type="datetime1">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1A76B34C-F6B3-4E97-8654-84B611A81F75}"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E2A6000D-57ED-45C9-8015-96B925CCFD59}" type="datetime1">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1A76B34C-F6B3-4E97-8654-84B611A81F75}"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A3C04E28-D028-4B86-B221-6E6F2D881B78}" type="datetime1">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1A76B34C-F6B3-4E97-8654-84B611A81F75}"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EEA32B89-B233-40E4-88A1-A1C9793E7250}" type="datetime1">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1A76B34C-F6B3-4E97-8654-84B611A81F75}"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9B4A8668-6626-4AEF-96A3-C59D4B625268}" type="datetime1">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1A76B34C-F6B3-4E97-8654-84B611A81F75}"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D871286A-B37E-4847-9AA0-1F1789825AD8}" type="datetime1">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1A76B34C-F6B3-4E97-8654-84B611A81F75}"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C3B4CE96-52D3-4280-97FF-313AF5AA42F1}" type="datetime1">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1A76B34C-F6B3-4E97-8654-84B611A81F75}"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DDF3AA88-3DEB-45E3-A6E4-983732158756}" type="datetime1">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1A76B34C-F6B3-4E97-8654-84B611A81F75}"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9156700" cy="6858000"/>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5B66B1DC-5F0C-4FA1-B06E-FA9F05E262D4}" type="datetime1">
              <a:rPr lang="en-US" smtClean="0"/>
            </a:fld>
            <a:endParaRPr lang="en-US"/>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1A76B34C-F6B3-4E97-8654-84B611A81F75}"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876800"/>
            <a:ext cx="5485130" cy="1811655"/>
          </a:xfrm>
          <a:effectLst>
            <a:softEdge rad="50800"/>
          </a:effectLst>
        </p:spPr>
        <p:style>
          <a:lnRef idx="0">
            <a:srgbClr val="FFFFFF"/>
          </a:lnRef>
          <a:fillRef idx="1">
            <a:schemeClr val="accent3"/>
          </a:fillRef>
          <a:effectRef idx="0">
            <a:srgbClr val="FFFFFF"/>
          </a:effectRef>
          <a:fontRef idx="minor">
            <a:schemeClr val="dk1"/>
          </a:fontRef>
        </p:style>
        <p:txBody>
          <a:bodyPr>
            <a:normAutofit/>
          </a:bodyPr>
          <a:lstStyle/>
          <a:p>
            <a:r>
              <a:rPr lang="en-US" dirty="0" smtClean="0">
                <a:solidFill>
                  <a:srgbClr val="FF0000"/>
                </a:solidFill>
                <a:highlight>
                  <a:srgbClr val="FFFF00"/>
                </a:highlight>
              </a:rPr>
              <a:t>cyber security</a:t>
            </a:r>
            <a:endParaRPr lang="en-US" dirty="0" smtClean="0">
              <a:solidFill>
                <a:srgbClr val="FF0000"/>
              </a:solidFill>
              <a:highlight>
                <a:srgbClr val="FFFF00"/>
              </a:highlight>
            </a:endParaRPr>
          </a:p>
        </p:txBody>
      </p:sp>
      <p:sp>
        <p:nvSpPr>
          <p:cNvPr id="4" name="Slide Number Placeholder 3"/>
          <p:cNvSpPr>
            <a:spLocks noGrp="1"/>
          </p:cNvSpPr>
          <p:nvPr>
            <p:ph type="sldNum" sz="quarter" idx="4"/>
          </p:nvPr>
        </p:nvSpPr>
        <p:spPr/>
        <p:txBody>
          <a:bodyPr/>
          <a:lstStyle/>
          <a:p>
            <a:fld id="{1A76B34C-F6B3-4E97-8654-84B611A81F75}" type="slidenum">
              <a:rPr lang="en-US" smtClean="0"/>
            </a:fld>
            <a:endParaRPr lang="en-US"/>
          </a:p>
        </p:txBody>
      </p:sp>
      <p:sp>
        <p:nvSpPr>
          <p:cNvPr id="3" name="Subtitle 2"/>
          <p:cNvSpPr>
            <a:spLocks noGrp="1"/>
          </p:cNvSpPr>
          <p:nvPr>
            <p:ph type="subTitle" idx="1"/>
          </p:nvPr>
        </p:nvSpPr>
        <p:spPr>
          <a:xfrm>
            <a:off x="1371600" y="914400"/>
            <a:ext cx="4114800" cy="2209800"/>
          </a:xfrm>
          <a:effectLst>
            <a:softEdge rad="50800"/>
          </a:effectLst>
        </p:spPr>
        <p:style>
          <a:lnRef idx="0">
            <a:srgbClr val="FFFFFF"/>
          </a:lnRef>
          <a:fillRef idx="1">
            <a:schemeClr val="accent2"/>
          </a:fillRef>
          <a:effectRef idx="0">
            <a:srgbClr val="FFFFFF"/>
          </a:effectRef>
          <a:fontRef idx="minor">
            <a:schemeClr val="dk1"/>
          </a:fontRef>
        </p:style>
        <p:txBody>
          <a:bodyPr>
            <a:normAutofit lnSpcReduction="10000"/>
          </a:bodyPr>
          <a:lstStyle/>
          <a:p>
            <a:r>
              <a:rPr lang="en-US" b="1" dirty="0" smtClean="0"/>
              <a:t>Name Bilal abid abbasi</a:t>
            </a:r>
            <a:endParaRPr lang="en-US" b="1" dirty="0" smtClean="0"/>
          </a:p>
          <a:p>
            <a:r>
              <a:rPr lang="en-US" b="1" dirty="0" smtClean="0"/>
              <a:t>Reg# 45961</a:t>
            </a:r>
            <a:endParaRPr lang="en-US" b="1" dirty="0" smtClean="0"/>
          </a:p>
          <a:p>
            <a:endParaRPr lang="en-US" b="1" dirty="0" smtClean="0"/>
          </a:p>
          <a:p>
            <a:endParaRPr lang="en-US" sz="4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200" y="76200"/>
            <a:ext cx="8229600" cy="708660"/>
          </a:xfrm>
        </p:spPr>
        <p:txBody>
          <a:bodyPr>
            <a:normAutofit fontScale="90000"/>
          </a:bodyPr>
          <a:lstStyle/>
          <a:p>
            <a:r>
              <a:rPr lang="en-US" dirty="0" smtClean="0"/>
              <a:t>What is cyber security?</a:t>
            </a:r>
            <a:br>
              <a:rPr lang="en-US" dirty="0" smtClean="0"/>
            </a:br>
            <a:r>
              <a:rPr lang="en-US" sz="2700" dirty="0" smtClean="0"/>
              <a:t>Cyber security:</a:t>
            </a:r>
            <a:endParaRPr lang="en-US" dirty="0"/>
          </a:p>
        </p:txBody>
      </p:sp>
      <p:sp>
        <p:nvSpPr>
          <p:cNvPr id="3" name="Content Placeholder 2"/>
          <p:cNvSpPr>
            <a:spLocks noGrp="1"/>
          </p:cNvSpPr>
          <p:nvPr>
            <p:ph idx="1"/>
          </p:nvPr>
        </p:nvSpPr>
        <p:spPr>
          <a:xfrm>
            <a:off x="380873" y="1828800"/>
            <a:ext cx="7498080" cy="4876800"/>
          </a:xfrm>
        </p:spPr>
        <p:txBody>
          <a:bodyPr>
            <a:normAutofit fontScale="92500" lnSpcReduction="20000"/>
          </a:bodyPr>
          <a:lstStyle/>
          <a:p>
            <a:r>
              <a:rPr lang="en-US" sz="1400" dirty="0" smtClean="0"/>
              <a:t>Cyber security </a:t>
            </a:r>
            <a:r>
              <a:rPr lang="en-US" sz="1400" dirty="0" smtClean="0"/>
              <a:t>is the practice of protecting computer systems, networks, data, and digital services from unauthorized access, attacks, or damage. It covers a wide range of technologies, processes, and best practices designed to defend against both </a:t>
            </a:r>
            <a:r>
              <a:rPr lang="en-US" sz="1400" dirty="0" smtClean="0"/>
              <a:t>external</a:t>
            </a:r>
            <a:r>
              <a:rPr lang="en-US" dirty="0" smtClean="0"/>
              <a:t>.</a:t>
            </a:r>
            <a:endParaRPr lang="en-US" dirty="0" smtClean="0"/>
          </a:p>
          <a:p>
            <a:r>
              <a:rPr lang="en-US" sz="1400" dirty="0" smtClean="0"/>
              <a:t>and internal </a:t>
            </a:r>
            <a:r>
              <a:rPr lang="en-US" sz="1400" dirty="0" smtClean="0"/>
              <a:t>threats</a:t>
            </a:r>
            <a:endParaRPr lang="en-US" sz="1400" dirty="0" smtClean="0"/>
          </a:p>
          <a:p>
            <a:endParaRPr lang="en-US" sz="1400" dirty="0" smtClean="0"/>
          </a:p>
          <a:p>
            <a:endParaRPr lang="en-US" sz="1400" dirty="0" smtClean="0"/>
          </a:p>
          <a:p>
            <a:endParaRPr lang="en-US" sz="1400" dirty="0" smtClean="0"/>
          </a:p>
          <a:p>
            <a:pPr>
              <a:buNone/>
            </a:pPr>
            <a:r>
              <a:rPr lang="en-US" sz="1400" b="1" dirty="0" smtClean="0"/>
              <a:t>       </a:t>
            </a:r>
            <a:r>
              <a:rPr lang="en-US" sz="2800" b="1" dirty="0" smtClean="0"/>
              <a:t>Key Areas of </a:t>
            </a:r>
            <a:r>
              <a:rPr lang="en-US" sz="2800" b="1" dirty="0" smtClean="0"/>
              <a:t>Cyber security</a:t>
            </a:r>
            <a:endParaRPr lang="en-US" sz="2800" b="1" dirty="0" smtClean="0"/>
          </a:p>
          <a:p>
            <a:pPr>
              <a:buNone/>
            </a:pPr>
            <a:endParaRPr lang="en-US" sz="1400" b="1" dirty="0" smtClean="0"/>
          </a:p>
          <a:p>
            <a:r>
              <a:rPr lang="en-US" sz="1400" dirty="0" smtClean="0"/>
              <a:t>Protecting </a:t>
            </a:r>
            <a:r>
              <a:rPr lang="en-US" sz="1400" dirty="0" smtClean="0"/>
              <a:t>networks from intrusions with firewalls, intrusion detection systems, and segmentation.</a:t>
            </a:r>
            <a:endParaRPr lang="en-US" sz="1400" dirty="0" smtClean="0"/>
          </a:p>
          <a:p>
            <a:r>
              <a:rPr lang="en-US" sz="1400" b="1" dirty="0" smtClean="0"/>
              <a:t>2. Application Security</a:t>
            </a:r>
            <a:endParaRPr lang="en-US" sz="1400" b="1" dirty="0" smtClean="0"/>
          </a:p>
          <a:p>
            <a:r>
              <a:rPr lang="en-US" sz="1400" b="1" dirty="0" smtClean="0"/>
              <a:t>1. Network Security</a:t>
            </a:r>
            <a:endParaRPr lang="en-US" sz="1400" b="1" dirty="0" smtClean="0"/>
          </a:p>
          <a:p>
            <a:r>
              <a:rPr lang="en-US" sz="1400" dirty="0" smtClean="0"/>
              <a:t>Keeping </a:t>
            </a:r>
            <a:r>
              <a:rPr lang="en-US" sz="1400" dirty="0" smtClean="0"/>
              <a:t>software safe from vulnerabilities through secure coding, testing, and patching.</a:t>
            </a:r>
            <a:endParaRPr lang="en-US" sz="1400" dirty="0" smtClean="0"/>
          </a:p>
          <a:p>
            <a:r>
              <a:rPr lang="en-US" sz="1400" b="1" dirty="0" smtClean="0"/>
              <a:t>3. Endpoint Security</a:t>
            </a:r>
            <a:endParaRPr lang="en-US" sz="1400" b="1" dirty="0" smtClean="0"/>
          </a:p>
          <a:p>
            <a:r>
              <a:rPr lang="en-US" sz="1400" dirty="0" smtClean="0"/>
              <a:t>Protecting user devices with antivirus, encryption, and mobile device management.</a:t>
            </a:r>
            <a:endParaRPr lang="en-US" sz="1400" dirty="0" smtClean="0"/>
          </a:p>
          <a:p>
            <a:r>
              <a:rPr lang="en-US" sz="1400" b="1" dirty="0" smtClean="0"/>
              <a:t>4. Cloud Security</a:t>
            </a:r>
            <a:endParaRPr lang="en-US" sz="1400" b="1" dirty="0" smtClean="0"/>
          </a:p>
          <a:p>
            <a:r>
              <a:rPr lang="en-US" sz="1400" dirty="0" smtClean="0"/>
              <a:t>Ensuring cloud data and services are configured securely and monitored.</a:t>
            </a:r>
            <a:endParaRPr lang="en-US" sz="1400" dirty="0" smtClean="0"/>
          </a:p>
          <a:p>
            <a:r>
              <a:rPr lang="en-US" sz="1400" b="1" dirty="0" smtClean="0"/>
              <a:t>5. Identity &amp; Access Management (IAM)</a:t>
            </a:r>
            <a:endParaRPr lang="en-US" sz="1400" b="1" dirty="0" smtClean="0"/>
          </a:p>
          <a:p>
            <a:r>
              <a:rPr lang="en-US" sz="1400" dirty="0" smtClean="0"/>
              <a:t>Controlling who can access what—using passwords, multifactor authentication, and role-based access.</a:t>
            </a:r>
            <a:endParaRPr lang="en-US" sz="1400" dirty="0" smtClean="0"/>
          </a:p>
          <a:p>
            <a:r>
              <a:rPr lang="en-US" sz="1400" b="1" dirty="0" smtClean="0"/>
              <a:t>6. Operational Security (</a:t>
            </a:r>
            <a:r>
              <a:rPr lang="en-US" sz="1400" b="1" dirty="0" smtClean="0"/>
              <a:t>Op Sec</a:t>
            </a:r>
            <a:r>
              <a:rPr lang="en-US" sz="1400" b="1" dirty="0" smtClean="0"/>
              <a:t>)</a:t>
            </a:r>
            <a:endParaRPr lang="en-US" sz="1400" b="1" dirty="0" smtClean="0"/>
          </a:p>
          <a:p>
            <a:r>
              <a:rPr lang="en-US" sz="1400" dirty="0" smtClean="0"/>
              <a:t>Policies and procedures that govern how data is handled and protected.</a:t>
            </a:r>
            <a:endParaRPr lang="en-US" sz="1400" dirty="0" smtClean="0"/>
          </a:p>
          <a:p>
            <a:endParaRPr lang="en-US" sz="1400" dirty="0"/>
          </a:p>
        </p:txBody>
      </p:sp>
      <p:sp>
        <p:nvSpPr>
          <p:cNvPr id="5" name="Slide Number Placeholder 4"/>
          <p:cNvSpPr>
            <a:spLocks noGrp="1"/>
          </p:cNvSpPr>
          <p:nvPr>
            <p:ph type="sldNum" sz="quarter" idx="12"/>
          </p:nvPr>
        </p:nvSpPr>
        <p:spPr/>
        <p:txBody>
          <a:bodyPr/>
          <a:lstStyle/>
          <a:p>
            <a:fld id="{1A76B34C-F6B3-4E97-8654-84B611A81F75}" type="slidenum">
              <a:rPr lang="en-US" smtClean="0"/>
            </a:fld>
            <a:endParaRPr lang="en-US"/>
          </a:p>
        </p:txBody>
      </p:sp>
      <p:pic>
        <p:nvPicPr>
          <p:cNvPr id="2" name="Picture 1"/>
          <p:cNvPicPr/>
          <p:nvPr/>
        </p:nvPicPr>
        <p:blipFill>
          <a:blip r:embed="rId1"/>
          <a:stretch>
            <a:fillRect/>
          </a:stretch>
        </p:blipFill>
        <p:spPr>
          <a:xfrm>
            <a:off x="6096000" y="152400"/>
            <a:ext cx="2863215" cy="1441450"/>
          </a:xfrm>
          <a:prstGeom prst="rect">
            <a:avLst/>
          </a:prstGeom>
        </p:spPr>
      </p:pic>
      <p:pic>
        <p:nvPicPr>
          <p:cNvPr id="6" name="Picture 5"/>
          <p:cNvPicPr/>
          <p:nvPr/>
        </p:nvPicPr>
        <p:blipFill>
          <a:blip r:embed="rId2"/>
          <a:stretch>
            <a:fillRect/>
          </a:stretch>
        </p:blipFill>
        <p:spPr>
          <a:xfrm>
            <a:off x="6172200" y="2362200"/>
            <a:ext cx="2614295" cy="12903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Cyber security</a:t>
            </a: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sz="2800" b="1" dirty="0" smtClean="0"/>
              <a:t>How we  </a:t>
            </a:r>
            <a:r>
              <a:rPr lang="en-US" sz="2800" b="1" dirty="0" smtClean="0"/>
              <a:t>Can Improve Their </a:t>
            </a:r>
            <a:r>
              <a:rPr lang="en-US" sz="2800" b="1" dirty="0" smtClean="0"/>
              <a:t>Security</a:t>
            </a:r>
            <a:endParaRPr lang="en-US" sz="2800" b="1" dirty="0" smtClean="0"/>
          </a:p>
          <a:p>
            <a:pPr>
              <a:buNone/>
            </a:pPr>
            <a:endParaRPr lang="en-US" sz="5100" b="1" dirty="0" smtClean="0"/>
          </a:p>
          <a:p>
            <a:r>
              <a:rPr lang="en-US" sz="2500" dirty="0" smtClean="0"/>
              <a:t>Use strong, unique passwords + a password manager</a:t>
            </a:r>
            <a:endParaRPr lang="en-US" sz="2500" dirty="0" smtClean="0"/>
          </a:p>
          <a:p>
            <a:r>
              <a:rPr lang="en-US" sz="2500" dirty="0" smtClean="0"/>
              <a:t>Enable two-factor authentication (2FA)</a:t>
            </a:r>
            <a:endParaRPr lang="en-US" sz="2500" dirty="0" smtClean="0"/>
          </a:p>
          <a:p>
            <a:r>
              <a:rPr lang="en-US" sz="2500" dirty="0" smtClean="0"/>
              <a:t>Keep devices and software updated</a:t>
            </a:r>
            <a:endParaRPr lang="en-US" sz="2500" dirty="0" smtClean="0"/>
          </a:p>
          <a:p>
            <a:r>
              <a:rPr lang="en-US" sz="2500" dirty="0" smtClean="0"/>
              <a:t>Avoid suspicious links and attachments</a:t>
            </a:r>
            <a:endParaRPr lang="en-US" sz="2500" dirty="0" smtClean="0"/>
          </a:p>
          <a:p>
            <a:r>
              <a:rPr lang="en-US" sz="2500" dirty="0" smtClean="0"/>
              <a:t>Use secure Wi-Fi (avoid public networks without a VPN</a:t>
            </a:r>
            <a:r>
              <a:rPr lang="en-US" sz="2500" dirty="0" smtClean="0"/>
              <a:t>)</a:t>
            </a:r>
            <a:endParaRPr lang="en-US" sz="2500" dirty="0" smtClean="0"/>
          </a:p>
          <a:p>
            <a:endParaRPr lang="en-US" sz="1400" dirty="0" smtClean="0"/>
          </a:p>
          <a:p>
            <a:endParaRPr lang="en-US" sz="4200" dirty="0" smtClean="0"/>
          </a:p>
          <a:p>
            <a:r>
              <a:rPr lang="en-US" sz="4200" b="1" dirty="0" smtClean="0"/>
              <a:t>Why is cybersecurity important</a:t>
            </a:r>
            <a:r>
              <a:rPr lang="en-US" sz="4200" b="1" dirty="0" smtClean="0"/>
              <a:t>?</a:t>
            </a:r>
            <a:endParaRPr lang="en-US" sz="4200" b="1" dirty="0" smtClean="0"/>
          </a:p>
          <a:p>
            <a:r>
              <a:rPr lang="en-US" sz="2600" b="1" dirty="0" smtClean="0"/>
              <a:t>Importance of cyber security</a:t>
            </a:r>
            <a:endParaRPr lang="en-US" sz="2600" b="1" dirty="0" smtClean="0"/>
          </a:p>
          <a:p>
            <a:r>
              <a:rPr lang="en-US" sz="2800" b="1" dirty="0" smtClean="0"/>
              <a:t>Protects sensitive data</a:t>
            </a:r>
            <a:r>
              <a:rPr lang="en-US" sz="2800" dirty="0" smtClean="0"/>
              <a:t> (personal, financial, business information) from unauthorized access.</a:t>
            </a:r>
            <a:endParaRPr lang="en-US" sz="2800" dirty="0" smtClean="0"/>
          </a:p>
          <a:p>
            <a:r>
              <a:rPr lang="en-US" sz="2800" b="1" dirty="0" smtClean="0"/>
              <a:t>Prevents cyber attacks</a:t>
            </a:r>
            <a:r>
              <a:rPr lang="en-US" sz="2800" dirty="0" smtClean="0"/>
              <a:t> such as hacking, phishing, </a:t>
            </a:r>
            <a:r>
              <a:rPr lang="en-US" sz="2800" dirty="0" err="1" smtClean="0"/>
              <a:t>ransomware</a:t>
            </a:r>
            <a:r>
              <a:rPr lang="en-US" sz="2800" dirty="0" smtClean="0"/>
              <a:t>, and malware.</a:t>
            </a:r>
            <a:endParaRPr lang="en-US" sz="2800" dirty="0" smtClean="0"/>
          </a:p>
          <a:p>
            <a:r>
              <a:rPr lang="en-US" sz="2800" b="1" dirty="0" smtClean="0"/>
              <a:t>Maintains privacy</a:t>
            </a:r>
            <a:r>
              <a:rPr lang="en-US" sz="2800" dirty="0" smtClean="0"/>
              <a:t> by ensuring personal information is not misused or exposed.</a:t>
            </a:r>
            <a:endParaRPr lang="en-US" sz="2800" dirty="0" smtClean="0"/>
          </a:p>
          <a:p>
            <a:r>
              <a:rPr lang="en-US" sz="2800" b="1" dirty="0" smtClean="0"/>
              <a:t>Ensures business continuity</a:t>
            </a:r>
            <a:r>
              <a:rPr lang="en-US" sz="2800" dirty="0" smtClean="0"/>
              <a:t> by preventing disruptions and downtime.</a:t>
            </a:r>
            <a:endParaRPr lang="en-US" sz="2800" dirty="0" smtClean="0"/>
          </a:p>
          <a:p>
            <a:r>
              <a:rPr lang="en-US" sz="2800" b="1" dirty="0" smtClean="0"/>
              <a:t>Protects financial assets</a:t>
            </a:r>
            <a:r>
              <a:rPr lang="en-US" sz="2800" dirty="0" smtClean="0"/>
              <a:t> and reduces economic losses caused by cybercrime.</a:t>
            </a:r>
            <a:endParaRPr lang="en-US" sz="2800" dirty="0" smtClean="0"/>
          </a:p>
          <a:p>
            <a:r>
              <a:rPr lang="en-US" sz="2800" b="1" dirty="0" smtClean="0"/>
              <a:t>Supports </a:t>
            </a:r>
            <a:r>
              <a:rPr lang="en-US" sz="2800" b="1" dirty="0" smtClean="0"/>
              <a:t>national security</a:t>
            </a:r>
            <a:r>
              <a:rPr lang="en-US" sz="2800" dirty="0" smtClean="0"/>
              <a:t> by protecting government and military networks.</a:t>
            </a:r>
            <a:endParaRPr lang="en-US" sz="2800" dirty="0" smtClean="0"/>
          </a:p>
          <a:p>
            <a:endParaRPr lang="en-US" sz="2800" dirty="0"/>
          </a:p>
        </p:txBody>
      </p:sp>
      <p:sp>
        <p:nvSpPr>
          <p:cNvPr id="4" name="Slide Number Placeholder 3"/>
          <p:cNvSpPr>
            <a:spLocks noGrp="1"/>
          </p:cNvSpPr>
          <p:nvPr>
            <p:ph type="sldNum" sz="quarter" idx="12"/>
          </p:nvPr>
        </p:nvSpPr>
        <p:spPr/>
        <p:txBody>
          <a:bodyPr/>
          <a:lstStyle/>
          <a:p>
            <a:fld id="{1A76B34C-F6B3-4E97-8654-84B611A81F75}" type="slidenum">
              <a:rPr lang="en-US" smtClean="0"/>
            </a:fld>
            <a:endParaRPr lang="en-US"/>
          </a:p>
        </p:txBody>
      </p:sp>
      <p:pic>
        <p:nvPicPr>
          <p:cNvPr id="6" name="Picture 5"/>
          <p:cNvPicPr/>
          <p:nvPr/>
        </p:nvPicPr>
        <p:blipFill>
          <a:blip r:embed="rId1"/>
          <a:stretch>
            <a:fillRect/>
          </a:stretch>
        </p:blipFill>
        <p:spPr>
          <a:xfrm>
            <a:off x="6000115" y="457200"/>
            <a:ext cx="2832735" cy="18503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5257800" cy="1143000"/>
          </a:xfrm>
        </p:spPr>
        <p:txBody>
          <a:bodyPr>
            <a:normAutofit/>
          </a:bodyPr>
          <a:lstStyle/>
          <a:p>
            <a:r>
              <a:rPr lang="en-US" sz="2800" dirty="0" smtClean="0"/>
              <a:t>Role of cyber security in business</a:t>
            </a:r>
            <a:endParaRPr lang="en-US" sz="2800" dirty="0"/>
          </a:p>
        </p:txBody>
      </p:sp>
      <p:graphicFrame>
        <p:nvGraphicFramePr>
          <p:cNvPr id="4" name="Content Placeholder 3"/>
          <p:cNvGraphicFramePr>
            <a:graphicFrameLocks noGrp="1"/>
          </p:cNvGraphicFramePr>
          <p:nvPr>
            <p:ph idx="1"/>
          </p:nvPr>
        </p:nvGraphicFramePr>
        <p:xfrm>
          <a:off x="4038600" y="55321200"/>
          <a:ext cx="2416915" cy="46177200"/>
        </p:xfrm>
        <a:graphic>
          <a:graphicData uri="http://schemas.openxmlformats.org/drawingml/2006/table">
            <a:tbl>
              <a:tblPr/>
              <a:tblGrid>
                <a:gridCol w="2289915"/>
                <a:gridCol w="127000"/>
              </a:tblGrid>
              <a:tr h="1559040">
                <a:tc>
                  <a:txBody>
                    <a:bodyPr/>
                    <a:lstStyle/>
                    <a:p>
                      <a:r>
                        <a:rPr lang="en-US" sz="1000" b="1" dirty="0"/>
                        <a:t>Business Role</a:t>
                      </a:r>
                      <a:endParaRPr lang="en-US" sz="1000" dirty="0"/>
                    </a:p>
                  </a:txBody>
                  <a:tcPr marL="50800" marR="50800" marT="25400" marB="25400" anchor="ctr">
                    <a:lnL>
                      <a:noFill/>
                    </a:lnL>
                    <a:lnR>
                      <a:noFill/>
                    </a:lnR>
                    <a:lnT>
                      <a:noFill/>
                    </a:lnT>
                    <a:lnB>
                      <a:noFill/>
                    </a:lnB>
                  </a:tcPr>
                </a:tc>
                <a:tc>
                  <a:txBody>
                    <a:bodyPr/>
                    <a:lstStyle/>
                    <a:p>
                      <a:r>
                        <a:rPr lang="en-US" sz="1000" b="1"/>
                        <a:t>Description</a:t>
                      </a:r>
                      <a:endParaRPr lang="en-US" sz="1000"/>
                    </a:p>
                  </a:txBody>
                  <a:tcPr marL="50800" marR="50800" marT="25400" marB="25400" anchor="ctr">
                    <a:lnL>
                      <a:noFill/>
                    </a:lnL>
                    <a:lnR>
                      <a:noFill/>
                    </a:lnR>
                    <a:lnT>
                      <a:noFill/>
                    </a:lnT>
                    <a:lnB>
                      <a:noFill/>
                    </a:lnB>
                  </a:tcPr>
                </a:tc>
              </a:tr>
              <a:tr h="9675220">
                <a:tc>
                  <a:txBody>
                    <a:bodyPr/>
                    <a:lstStyle/>
                    <a:p>
                      <a:r>
                        <a:rPr lang="en-US" sz="1000" b="1" dirty="0"/>
                        <a:t>Protecting Assets</a:t>
                      </a:r>
                      <a:endParaRPr lang="en-US" sz="1000" dirty="0"/>
                    </a:p>
                  </a:txBody>
                  <a:tcPr marL="50800" marR="50800" marT="25400" marB="25400" anchor="ctr">
                    <a:lnL>
                      <a:noFill/>
                    </a:lnL>
                    <a:lnR>
                      <a:noFill/>
                    </a:lnR>
                    <a:lnT>
                      <a:noFill/>
                    </a:lnT>
                    <a:lnB>
                      <a:noFill/>
                    </a:lnB>
                  </a:tcPr>
                </a:tc>
                <a:tc>
                  <a:txBody>
                    <a:bodyPr/>
                    <a:lstStyle/>
                    <a:p>
                      <a:r>
                        <a:rPr lang="en-US" sz="1000" dirty="0"/>
                        <a:t>Secures intellectual property, customer data, and financial resources.</a:t>
                      </a:r>
                      <a:endParaRPr lang="en-US" sz="1000" dirty="0"/>
                    </a:p>
                  </a:txBody>
                  <a:tcPr marL="50800" marR="50800" marT="25400" marB="25400" anchor="ctr">
                    <a:lnL>
                      <a:noFill/>
                    </a:lnL>
                    <a:lnR>
                      <a:noFill/>
                    </a:lnR>
                    <a:lnT>
                      <a:noFill/>
                    </a:lnT>
                    <a:lnB>
                      <a:noFill/>
                    </a:lnB>
                  </a:tcPr>
                </a:tc>
              </a:tr>
              <a:tr h="6648848">
                <a:tc>
                  <a:txBody>
                    <a:bodyPr/>
                    <a:lstStyle/>
                    <a:p>
                      <a:r>
                        <a:rPr lang="en-US" sz="1000" b="1"/>
                        <a:t>Preventing Downtime</a:t>
                      </a:r>
                      <a:endParaRPr lang="en-US" sz="1000"/>
                    </a:p>
                  </a:txBody>
                  <a:tcPr marL="50800" marR="50800" marT="25400" marB="25400" anchor="ctr">
                    <a:lnL>
                      <a:noFill/>
                    </a:lnL>
                    <a:lnR>
                      <a:noFill/>
                    </a:lnR>
                    <a:lnT>
                      <a:noFill/>
                    </a:lnT>
                    <a:lnB>
                      <a:noFill/>
                    </a:lnB>
                  </a:tcPr>
                </a:tc>
                <a:tc>
                  <a:txBody>
                    <a:bodyPr/>
                    <a:lstStyle/>
                    <a:p>
                      <a:r>
                        <a:rPr lang="en-US" sz="1000"/>
                        <a:t>Stops attacks like DDoS that disrupt operations.</a:t>
                      </a:r>
                      <a:endParaRPr lang="en-US" sz="1000"/>
                    </a:p>
                  </a:txBody>
                  <a:tcPr marL="50800" marR="50800" marT="25400" marB="25400" anchor="ctr">
                    <a:lnL>
                      <a:noFill/>
                    </a:lnL>
                    <a:lnR>
                      <a:noFill/>
                    </a:lnR>
                    <a:lnT>
                      <a:noFill/>
                    </a:lnT>
                    <a:lnB>
                      <a:noFill/>
                    </a:lnB>
                  </a:tcPr>
                </a:tc>
              </a:tr>
              <a:tr h="7336660">
                <a:tc>
                  <a:txBody>
                    <a:bodyPr/>
                    <a:lstStyle/>
                    <a:p>
                      <a:r>
                        <a:rPr lang="en-US" sz="1000" b="1"/>
                        <a:t>Building Customer Trust</a:t>
                      </a:r>
                      <a:endParaRPr lang="en-US" sz="1000"/>
                    </a:p>
                  </a:txBody>
                  <a:tcPr marL="50800" marR="50800" marT="25400" marB="25400" anchor="ctr">
                    <a:lnL>
                      <a:noFill/>
                    </a:lnL>
                    <a:lnR>
                      <a:noFill/>
                    </a:lnR>
                    <a:lnT>
                      <a:noFill/>
                    </a:lnT>
                    <a:lnB>
                      <a:noFill/>
                    </a:lnB>
                  </a:tcPr>
                </a:tc>
                <a:tc>
                  <a:txBody>
                    <a:bodyPr/>
                    <a:lstStyle/>
                    <a:p>
                      <a:r>
                        <a:rPr lang="en-US" sz="1000"/>
                        <a:t>Shows users their data is safe, improving reputation.</a:t>
                      </a:r>
                      <a:endParaRPr lang="en-US" sz="1000"/>
                    </a:p>
                  </a:txBody>
                  <a:tcPr marL="50800" marR="50800" marT="25400" marB="25400" anchor="ctr">
                    <a:lnL>
                      <a:noFill/>
                    </a:lnL>
                    <a:lnR>
                      <a:noFill/>
                    </a:lnR>
                    <a:lnT>
                      <a:noFill/>
                    </a:lnT>
                    <a:lnB>
                      <a:noFill/>
                    </a:lnB>
                  </a:tcPr>
                </a:tc>
              </a:tr>
              <a:tr h="8437159">
                <a:tc>
                  <a:txBody>
                    <a:bodyPr/>
                    <a:lstStyle/>
                    <a:p>
                      <a:r>
                        <a:rPr lang="en-US" sz="1000" b="1"/>
                        <a:t>Regulatory Compliance</a:t>
                      </a:r>
                      <a:endParaRPr lang="en-US" sz="1000"/>
                    </a:p>
                  </a:txBody>
                  <a:tcPr marL="50800" marR="50800" marT="25400" marB="25400" anchor="ctr">
                    <a:lnL>
                      <a:noFill/>
                    </a:lnL>
                    <a:lnR>
                      <a:noFill/>
                    </a:lnR>
                    <a:lnT>
                      <a:noFill/>
                    </a:lnT>
                    <a:lnB>
                      <a:noFill/>
                    </a:lnB>
                  </a:tcPr>
                </a:tc>
                <a:tc>
                  <a:txBody>
                    <a:bodyPr/>
                    <a:lstStyle/>
                    <a:p>
                      <a:r>
                        <a:rPr lang="en-US" sz="1000"/>
                        <a:t>Helps companies follow legal and industry security standards.</a:t>
                      </a:r>
                      <a:endParaRPr lang="en-US" sz="1000"/>
                    </a:p>
                  </a:txBody>
                  <a:tcPr marL="50800" marR="50800" marT="25400" marB="25400" anchor="ctr">
                    <a:lnL>
                      <a:noFill/>
                    </a:lnL>
                    <a:lnR>
                      <a:noFill/>
                    </a:lnR>
                    <a:lnT>
                      <a:noFill/>
                    </a:lnT>
                    <a:lnB>
                      <a:noFill/>
                    </a:lnB>
                  </a:tcPr>
                </a:tc>
              </a:tr>
              <a:tr h="8024472">
                <a:tc>
                  <a:txBody>
                    <a:bodyPr/>
                    <a:lstStyle/>
                    <a:p>
                      <a:endParaRPr lang="en-US" sz="1000" dirty="0"/>
                    </a:p>
                  </a:txBody>
                  <a:tcPr marL="50800" marR="50800" marT="25400" marB="25400" anchor="ctr">
                    <a:lnL>
                      <a:noFill/>
                    </a:lnL>
                    <a:lnR>
                      <a:noFill/>
                    </a:lnR>
                    <a:lnT>
                      <a:noFill/>
                    </a:lnT>
                    <a:lnB>
                      <a:noFill/>
                    </a:lnB>
                  </a:tcPr>
                </a:tc>
                <a:tc>
                  <a:txBody>
                    <a:bodyPr/>
                    <a:lstStyle/>
                    <a:p>
                      <a:r>
                        <a:rPr lang="en-US" sz="1000" dirty="0"/>
                        <a:t>Prevents costly breaches, fines, and operational failures.</a:t>
                      </a:r>
                      <a:endParaRPr lang="en-US" sz="1000" dirty="0"/>
                    </a:p>
                  </a:txBody>
                  <a:tcPr marL="50800" marR="50800" marT="25400" marB="25400" anchor="ctr">
                    <a:lnL>
                      <a:noFill/>
                    </a:lnL>
                    <a:lnR>
                      <a:noFill/>
                    </a:lnR>
                    <a:lnT>
                      <a:noFill/>
                    </a:lnT>
                    <a:lnB>
                      <a:noFill/>
                    </a:lnB>
                  </a:tcPr>
                </a:tc>
              </a:tr>
            </a:tbl>
          </a:graphicData>
        </a:graphic>
      </p:graphicFrame>
      <p:sp>
        <p:nvSpPr>
          <p:cNvPr id="10" name="Slide Number Placeholder 9"/>
          <p:cNvSpPr>
            <a:spLocks noGrp="1"/>
          </p:cNvSpPr>
          <p:nvPr>
            <p:ph type="sldNum" sz="quarter" idx="12"/>
          </p:nvPr>
        </p:nvSpPr>
        <p:spPr/>
        <p:txBody>
          <a:bodyPr/>
          <a:lstStyle/>
          <a:p>
            <a:fld id="{1A76B34C-F6B3-4E97-8654-84B611A81F75}" type="slidenum">
              <a:rPr lang="en-US" smtClean="0"/>
            </a:fld>
            <a:endParaRPr lang="en-US"/>
          </a:p>
        </p:txBody>
      </p:sp>
      <p:sp>
        <p:nvSpPr>
          <p:cNvPr id="13313" name="Rectangle 1"/>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ln>
          <a:effectLst/>
        </p:spPr>
        <p:txBody>
          <a:bodyPr vert="horz" wrap="none" lIns="91440" tIns="45720" rIns="91440" bIns="45720" numCol="1" anchor="ctr" anchorCtr="0" compatLnSpc="1">
            <a:spAutoFit/>
          </a:bodyPr>
          <a:lstStyle/>
          <a:p>
            <a:endParaRPr lang="en-US"/>
          </a:p>
        </p:txBody>
      </p:sp>
      <p:sp>
        <p:nvSpPr>
          <p:cNvPr id="13314" name="Rectangle 2"/>
          <p:cNvSpPr>
            <a:spLocks noChangeArrowheads="1"/>
          </p:cNvSpPr>
          <p:nvPr/>
        </p:nvSpPr>
        <p:spPr bwMode="auto">
          <a:xfrm>
            <a:off x="0" y="15875"/>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2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 Table 2: Role of Cybersecurity in Business</a:t>
            </a:r>
            <a:endParaRPr kumimoji="0" lang="en-US" sz="12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nvGraphicFramePr>
        <p:xfrm>
          <a:off x="1676400" y="1752600"/>
          <a:ext cx="5943600" cy="4135116"/>
        </p:xfrm>
        <a:graphic>
          <a:graphicData uri="http://schemas.openxmlformats.org/drawingml/2006/table">
            <a:tbl>
              <a:tblPr/>
              <a:tblGrid>
                <a:gridCol w="3009938"/>
                <a:gridCol w="2933662"/>
              </a:tblGrid>
              <a:tr h="311230">
                <a:tc>
                  <a:txBody>
                    <a:bodyPr/>
                    <a:lstStyle/>
                    <a:p>
                      <a:r>
                        <a:rPr lang="en-US" sz="1700" b="1"/>
                        <a:t>Business Role</a:t>
                      </a:r>
                      <a:endParaRPr lang="en-US" sz="1700"/>
                    </a:p>
                  </a:txBody>
                  <a:tcPr marL="84667" marR="84667" marT="42333" marB="42333" anchor="ctr">
                    <a:lnL>
                      <a:noFill/>
                    </a:lnL>
                    <a:lnR>
                      <a:noFill/>
                    </a:lnR>
                    <a:lnT>
                      <a:noFill/>
                    </a:lnT>
                    <a:lnB>
                      <a:noFill/>
                    </a:lnB>
                  </a:tcPr>
                </a:tc>
                <a:tc>
                  <a:txBody>
                    <a:bodyPr/>
                    <a:lstStyle/>
                    <a:p>
                      <a:r>
                        <a:rPr lang="en-US" sz="1700" b="1"/>
                        <a:t>Description</a:t>
                      </a:r>
                      <a:endParaRPr lang="en-US" sz="1700"/>
                    </a:p>
                  </a:txBody>
                  <a:tcPr marL="84667" marR="84667" marT="42333" marB="42333" anchor="ctr">
                    <a:lnL>
                      <a:noFill/>
                    </a:lnL>
                    <a:lnR>
                      <a:noFill/>
                    </a:lnR>
                    <a:lnT>
                      <a:noFill/>
                    </a:lnT>
                    <a:lnB>
                      <a:noFill/>
                    </a:lnB>
                  </a:tcPr>
                </a:tc>
              </a:tr>
              <a:tr h="780375">
                <a:tc>
                  <a:txBody>
                    <a:bodyPr/>
                    <a:lstStyle/>
                    <a:p>
                      <a:r>
                        <a:rPr lang="en-US" sz="1700" b="1"/>
                        <a:t>Protecting Assets</a:t>
                      </a:r>
                      <a:endParaRPr lang="en-US" sz="1700"/>
                    </a:p>
                  </a:txBody>
                  <a:tcPr marL="84667" marR="84667" marT="42333" marB="42333" anchor="ctr">
                    <a:lnL>
                      <a:noFill/>
                    </a:lnL>
                    <a:lnR>
                      <a:noFill/>
                    </a:lnR>
                    <a:lnT>
                      <a:noFill/>
                    </a:lnT>
                    <a:lnB>
                      <a:noFill/>
                    </a:lnB>
                  </a:tcPr>
                </a:tc>
                <a:tc>
                  <a:txBody>
                    <a:bodyPr/>
                    <a:lstStyle/>
                    <a:p>
                      <a:r>
                        <a:rPr lang="en-US" sz="1700"/>
                        <a:t>Secures intellectual property, customer data, and financial resources.</a:t>
                      </a:r>
                      <a:endParaRPr lang="en-US" sz="1700"/>
                    </a:p>
                  </a:txBody>
                  <a:tcPr marL="84667" marR="84667" marT="42333" marB="42333" anchor="ctr">
                    <a:lnL>
                      <a:noFill/>
                    </a:lnL>
                    <a:lnR>
                      <a:noFill/>
                    </a:lnR>
                    <a:lnT>
                      <a:noFill/>
                    </a:lnT>
                    <a:lnB>
                      <a:noFill/>
                    </a:lnB>
                  </a:tcPr>
                </a:tc>
              </a:tr>
              <a:tr h="545802">
                <a:tc>
                  <a:txBody>
                    <a:bodyPr/>
                    <a:lstStyle/>
                    <a:p>
                      <a:r>
                        <a:rPr lang="en-US" sz="1700" b="1"/>
                        <a:t>Preventing Downtime</a:t>
                      </a:r>
                      <a:endParaRPr lang="en-US" sz="1700"/>
                    </a:p>
                  </a:txBody>
                  <a:tcPr marL="84667" marR="84667" marT="42333" marB="42333" anchor="ctr">
                    <a:lnL>
                      <a:noFill/>
                    </a:lnL>
                    <a:lnR>
                      <a:noFill/>
                    </a:lnR>
                    <a:lnT>
                      <a:noFill/>
                    </a:lnT>
                    <a:lnB>
                      <a:noFill/>
                    </a:lnB>
                  </a:tcPr>
                </a:tc>
                <a:tc>
                  <a:txBody>
                    <a:bodyPr/>
                    <a:lstStyle/>
                    <a:p>
                      <a:r>
                        <a:rPr lang="en-US" sz="1700"/>
                        <a:t>Stops attacks like DDoS that disrupt operations.</a:t>
                      </a:r>
                      <a:endParaRPr lang="en-US" sz="1700"/>
                    </a:p>
                  </a:txBody>
                  <a:tcPr marL="84667" marR="84667" marT="42333" marB="42333" anchor="ctr">
                    <a:lnL>
                      <a:noFill/>
                    </a:lnL>
                    <a:lnR>
                      <a:noFill/>
                    </a:lnR>
                    <a:lnT>
                      <a:noFill/>
                    </a:lnT>
                    <a:lnB>
                      <a:noFill/>
                    </a:lnB>
                  </a:tcPr>
                </a:tc>
              </a:tr>
              <a:tr h="545802">
                <a:tc>
                  <a:txBody>
                    <a:bodyPr/>
                    <a:lstStyle/>
                    <a:p>
                      <a:r>
                        <a:rPr lang="en-US" sz="1700" b="1"/>
                        <a:t>Building Customer Trust</a:t>
                      </a:r>
                      <a:endParaRPr lang="en-US" sz="1700"/>
                    </a:p>
                  </a:txBody>
                  <a:tcPr marL="84667" marR="84667" marT="42333" marB="42333" anchor="ctr">
                    <a:lnL>
                      <a:noFill/>
                    </a:lnL>
                    <a:lnR>
                      <a:noFill/>
                    </a:lnR>
                    <a:lnT>
                      <a:noFill/>
                    </a:lnT>
                    <a:lnB>
                      <a:noFill/>
                    </a:lnB>
                  </a:tcPr>
                </a:tc>
                <a:tc>
                  <a:txBody>
                    <a:bodyPr/>
                    <a:lstStyle/>
                    <a:p>
                      <a:r>
                        <a:rPr lang="en-US" sz="1700"/>
                        <a:t>Shows users their data is safe, improving reputation.</a:t>
                      </a:r>
                      <a:endParaRPr lang="en-US" sz="1700"/>
                    </a:p>
                  </a:txBody>
                  <a:tcPr marL="84667" marR="84667" marT="42333" marB="42333" anchor="ctr">
                    <a:lnL>
                      <a:noFill/>
                    </a:lnL>
                    <a:lnR>
                      <a:noFill/>
                    </a:lnR>
                    <a:lnT>
                      <a:noFill/>
                    </a:lnT>
                    <a:lnB>
                      <a:noFill/>
                    </a:lnB>
                  </a:tcPr>
                </a:tc>
              </a:tr>
              <a:tr h="780375">
                <a:tc>
                  <a:txBody>
                    <a:bodyPr/>
                    <a:lstStyle/>
                    <a:p>
                      <a:r>
                        <a:rPr lang="en-US" sz="1700" b="1"/>
                        <a:t>Regulatory Compliance</a:t>
                      </a:r>
                      <a:endParaRPr lang="en-US" sz="1700"/>
                    </a:p>
                  </a:txBody>
                  <a:tcPr marL="84667" marR="84667" marT="42333" marB="42333" anchor="ctr">
                    <a:lnL>
                      <a:noFill/>
                    </a:lnL>
                    <a:lnR>
                      <a:noFill/>
                    </a:lnR>
                    <a:lnT>
                      <a:noFill/>
                    </a:lnT>
                    <a:lnB>
                      <a:noFill/>
                    </a:lnB>
                  </a:tcPr>
                </a:tc>
                <a:tc>
                  <a:txBody>
                    <a:bodyPr/>
                    <a:lstStyle/>
                    <a:p>
                      <a:r>
                        <a:rPr lang="en-US" sz="1700"/>
                        <a:t>Helps companies follow legal and industry security standards.</a:t>
                      </a:r>
                      <a:endParaRPr lang="en-US" sz="1700"/>
                    </a:p>
                  </a:txBody>
                  <a:tcPr marL="84667" marR="84667" marT="42333" marB="42333" anchor="ctr">
                    <a:lnL>
                      <a:noFill/>
                    </a:lnL>
                    <a:lnR>
                      <a:noFill/>
                    </a:lnR>
                    <a:lnT>
                      <a:noFill/>
                    </a:lnT>
                    <a:lnB>
                      <a:noFill/>
                    </a:lnB>
                  </a:tcPr>
                </a:tc>
              </a:tr>
              <a:tr h="780375">
                <a:tc>
                  <a:txBody>
                    <a:bodyPr/>
                    <a:lstStyle/>
                    <a:p>
                      <a:r>
                        <a:rPr lang="en-US" sz="1700" b="1"/>
                        <a:t>Reducing Financial Loss</a:t>
                      </a:r>
                      <a:endParaRPr lang="en-US" sz="1700"/>
                    </a:p>
                  </a:txBody>
                  <a:tcPr marL="84667" marR="84667" marT="42333" marB="42333" anchor="ctr">
                    <a:lnL>
                      <a:noFill/>
                    </a:lnL>
                    <a:lnR>
                      <a:noFill/>
                    </a:lnR>
                    <a:lnT>
                      <a:noFill/>
                    </a:lnT>
                    <a:lnB>
                      <a:noFill/>
                    </a:lnB>
                  </a:tcPr>
                </a:tc>
                <a:tc>
                  <a:txBody>
                    <a:bodyPr/>
                    <a:lstStyle/>
                    <a:p>
                      <a:r>
                        <a:rPr lang="en-US" sz="1700" dirty="0"/>
                        <a:t>Prevents costly breaches, fines, and operational failures.</a:t>
                      </a:r>
                      <a:endParaRPr lang="en-US" sz="1700" dirty="0"/>
                    </a:p>
                  </a:txBody>
                  <a:tcPr marL="84667" marR="84667" marT="42333" marB="42333" anchor="ctr">
                    <a:lnL>
                      <a:noFill/>
                    </a:lnL>
                    <a:lnR>
                      <a:noFill/>
                    </a:lnR>
                    <a:lnT>
                      <a:noFill/>
                    </a:lnT>
                    <a:lnB>
                      <a:noFill/>
                    </a:lnB>
                  </a:tcPr>
                </a:tc>
              </a:tr>
            </a:tbl>
          </a:graphicData>
        </a:graphic>
      </p:graphicFrame>
      <p:sp>
        <p:nvSpPr>
          <p:cNvPr id="13315" name="Rectangle 3"/>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ln>
          <a:effectLst/>
        </p:spPr>
        <p:txBody>
          <a:bodyPr vert="horz" wrap="none" lIns="91440" tIns="45720" rIns="91440" bIns="45720" numCol="1" anchor="ctr" anchorCtr="0" compatLnSpc="1">
            <a:spAutoFit/>
          </a:bodyPr>
          <a:lstStyle/>
          <a:p>
            <a:endParaRPr lang="en-US"/>
          </a:p>
        </p:txBody>
      </p:sp>
      <p:sp>
        <p:nvSpPr>
          <p:cNvPr id="13316" name="Rectangle 4"/>
          <p:cNvSpPr>
            <a:spLocks noChangeArrowheads="1"/>
          </p:cNvSpPr>
          <p:nvPr/>
        </p:nvSpPr>
        <p:spPr bwMode="auto">
          <a:xfrm>
            <a:off x="0" y="15875"/>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2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 Table 2: Role of Cybersecurity in Business</a:t>
            </a:r>
            <a:endParaRPr kumimoji="0" lang="en-US" sz="12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p:txBody>
      </p:sp>
      <p:pic>
        <p:nvPicPr>
          <p:cNvPr id="11" name="Picture 10" descr="bil.jpeg"/>
          <p:cNvPicPr>
            <a:picLocks noChangeAspect="1"/>
          </p:cNvPicPr>
          <p:nvPr/>
        </p:nvPicPr>
        <p:blipFill>
          <a:blip r:embed="rId1"/>
          <a:stretch>
            <a:fillRect/>
          </a:stretch>
        </p:blipFill>
        <p:spPr>
          <a:xfrm>
            <a:off x="6324600" y="76200"/>
            <a:ext cx="2819400" cy="1619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of cyber security </a:t>
            </a:r>
            <a:endParaRPr lang="en-US" dirty="0"/>
          </a:p>
        </p:txBody>
      </p:sp>
      <p:sp>
        <p:nvSpPr>
          <p:cNvPr id="3" name="Content Placeholder 2"/>
          <p:cNvSpPr>
            <a:spLocks noGrp="1"/>
          </p:cNvSpPr>
          <p:nvPr>
            <p:ph idx="1"/>
          </p:nvPr>
        </p:nvSpPr>
        <p:spPr>
          <a:xfrm>
            <a:off x="1447800" y="1828800"/>
            <a:ext cx="6019800" cy="4114800"/>
          </a:xfrm>
        </p:spPr>
        <p:txBody>
          <a:bodyPr>
            <a:normAutofit/>
          </a:bodyPr>
          <a:lstStyle/>
          <a:p>
            <a:pPr>
              <a:buNone/>
            </a:pPr>
            <a:r>
              <a:rPr lang="en-US" sz="2000" b="1" dirty="0" smtClean="0"/>
              <a:t>1. Network Security</a:t>
            </a:r>
            <a:endParaRPr lang="en-US" sz="2000" b="1" dirty="0" smtClean="0"/>
          </a:p>
          <a:p>
            <a:pPr>
              <a:buNone/>
            </a:pPr>
            <a:r>
              <a:rPr lang="en-US" sz="2000" b="1" dirty="0" smtClean="0"/>
              <a:t>2. Information Security </a:t>
            </a:r>
            <a:endParaRPr lang="en-US" sz="2000" b="1" dirty="0" smtClean="0"/>
          </a:p>
          <a:p>
            <a:pPr>
              <a:buNone/>
            </a:pPr>
            <a:r>
              <a:rPr lang="en-US" sz="2000" b="1" dirty="0" smtClean="0"/>
              <a:t> 3. Application Security</a:t>
            </a:r>
            <a:endParaRPr lang="en-US" sz="2000" b="1" dirty="0" smtClean="0"/>
          </a:p>
          <a:p>
            <a:pPr>
              <a:buNone/>
            </a:pPr>
            <a:r>
              <a:rPr lang="en-US" sz="2000" b="1" dirty="0" smtClean="0"/>
              <a:t>4. Cloud Security</a:t>
            </a:r>
            <a:endParaRPr lang="en-US" sz="2000" b="1" dirty="0" smtClean="0"/>
          </a:p>
          <a:p>
            <a:pPr>
              <a:buNone/>
            </a:pPr>
            <a:r>
              <a:rPr lang="en-US" sz="2000" b="1" dirty="0" smtClean="0"/>
              <a:t>5. Endpoint Security 6. Identity and Access Management (IAM)</a:t>
            </a:r>
            <a:endParaRPr lang="en-US" sz="2000" b="1" dirty="0" smtClean="0"/>
          </a:p>
          <a:p>
            <a:pPr>
              <a:buNone/>
            </a:pPr>
            <a:r>
              <a:rPr lang="en-US" sz="2000" b="1" dirty="0" smtClean="0"/>
              <a:t>6. Identity and Access Management (IAM)</a:t>
            </a:r>
            <a:endParaRPr lang="en-US" sz="2000" b="1" dirty="0" smtClean="0"/>
          </a:p>
          <a:p>
            <a:endParaRPr lang="en-US" sz="2000" b="1" dirty="0" smtClean="0"/>
          </a:p>
          <a:p>
            <a:endParaRPr lang="en-US" sz="2000" b="1" dirty="0" smtClean="0"/>
          </a:p>
        </p:txBody>
      </p:sp>
      <p:sp>
        <p:nvSpPr>
          <p:cNvPr id="4" name="Slide Number Placeholder 3"/>
          <p:cNvSpPr>
            <a:spLocks noGrp="1"/>
          </p:cNvSpPr>
          <p:nvPr>
            <p:ph type="sldNum" sz="quarter" idx="12"/>
          </p:nvPr>
        </p:nvSpPr>
        <p:spPr/>
        <p:txBody>
          <a:bodyPr/>
          <a:lstStyle/>
          <a:p>
            <a:fld id="{1A76B34C-F6B3-4E97-8654-84B611A81F75}" type="slidenum">
              <a:rPr lang="en-US" smtClean="0"/>
            </a:fld>
            <a:endParaRPr lang="en-US"/>
          </a:p>
        </p:txBody>
      </p:sp>
      <p:sp>
        <p:nvSpPr>
          <p:cNvPr id="32770" name="AutoShape 2" descr="C:\Users\PG-5\AppData\Local\Temp\{040D6068-176B-4D6F-BED5-BCD254321C2D}.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lstStyle/>
          <a:p>
            <a:endParaRPr lang="en-US"/>
          </a:p>
        </p:txBody>
      </p:sp>
      <p:pic>
        <p:nvPicPr>
          <p:cNvPr id="8" name="Picture 7" descr="Networking &amp; Internet.jpeg"/>
          <p:cNvPicPr>
            <a:picLocks noChangeAspect="1"/>
          </p:cNvPicPr>
          <p:nvPr/>
        </p:nvPicPr>
        <p:blipFill>
          <a:blip r:embed="rId1"/>
          <a:stretch>
            <a:fillRect/>
          </a:stretch>
        </p:blipFill>
        <p:spPr>
          <a:xfrm>
            <a:off x="6248400" y="1524000"/>
            <a:ext cx="2619375" cy="1743075"/>
          </a:xfrm>
          <a:prstGeom prst="rect">
            <a:avLst/>
          </a:prstGeom>
        </p:spPr>
      </p:pic>
      <p:pic>
        <p:nvPicPr>
          <p:cNvPr id="5" name="Picture 4"/>
          <p:cNvPicPr/>
          <p:nvPr/>
        </p:nvPicPr>
        <p:blipFill>
          <a:blip r:embed="rId2"/>
          <a:stretch>
            <a:fillRect/>
          </a:stretch>
        </p:blipFill>
        <p:spPr>
          <a:xfrm>
            <a:off x="1066800" y="4876800"/>
            <a:ext cx="6373495" cy="17354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0"/>
            <a:ext cx="5247005" cy="1337310"/>
          </a:xfrm>
        </p:spPr>
        <p:txBody>
          <a:bodyPr/>
          <a:lstStyle/>
          <a:p>
            <a:r>
              <a:rPr lang="en-US" altLang="en-US">
                <a:sym typeface="+mn-ea"/>
              </a:rPr>
              <a:t>Importance of Cyber Security</a:t>
            </a:r>
            <a:endParaRPr lang="en-US" dirty="0"/>
          </a:p>
        </p:txBody>
      </p:sp>
      <p:sp>
        <p:nvSpPr>
          <p:cNvPr id="4" name="Slide Number Placeholder 3"/>
          <p:cNvSpPr>
            <a:spLocks noGrp="1"/>
          </p:cNvSpPr>
          <p:nvPr>
            <p:ph type="sldNum" sz="quarter" idx="12"/>
          </p:nvPr>
        </p:nvSpPr>
        <p:spPr/>
        <p:txBody>
          <a:bodyPr/>
          <a:lstStyle/>
          <a:p>
            <a:fld id="{1A76B34C-F6B3-4E97-8654-84B611A81F75}" type="slidenum">
              <a:rPr lang="en-US" smtClean="0"/>
            </a:fld>
            <a:endParaRPr lang="en-US"/>
          </a:p>
        </p:txBody>
      </p:sp>
      <p:sp>
        <p:nvSpPr>
          <p:cNvPr id="33793" name="Rectangle 1"/>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ln>
          <a:effectLst/>
        </p:spPr>
        <p:txBody>
          <a:bodyPr vert="horz" wrap="none" lIns="91440" tIns="45720" rIns="91440" bIns="45720" numCol="1" anchor="ctr" anchorCtr="0" compatLnSpc="1">
            <a:spAutoFit/>
          </a:bodyPr>
          <a:lstStyle/>
          <a:p>
            <a:endParaRPr lang="en-US"/>
          </a:p>
        </p:txBody>
      </p:sp>
      <p:sp>
        <p:nvSpPr>
          <p:cNvPr id="33794" name="Rectangle 2"/>
          <p:cNvSpPr>
            <a:spLocks noChangeArrowheads="1"/>
          </p:cNvSpPr>
          <p:nvPr/>
        </p:nvSpPr>
        <p:spPr bwMode="auto">
          <a:xfrm>
            <a:off x="0" y="15875"/>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9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 6. Identity and Access Management (IAM)</a:t>
            </a:r>
            <a:endParaRPr kumimoji="0" lang="en-US" sz="9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p:txBody>
      </p:sp>
      <p:sp>
        <p:nvSpPr>
          <p:cNvPr id="14" name="Content Placeholder 13"/>
          <p:cNvSpPr>
            <a:spLocks noGrp="1"/>
          </p:cNvSpPr>
          <p:nvPr>
            <p:ph idx="1"/>
          </p:nvPr>
        </p:nvSpPr>
        <p:spPr>
          <a:xfrm>
            <a:off x="457200" y="1461135"/>
            <a:ext cx="8229600" cy="4666615"/>
          </a:xfrm>
        </p:spPr>
        <p:txBody>
          <a:bodyPr/>
          <a:lstStyle/>
          <a:p>
            <a:endParaRPr lang="en-US" altLang="en-US" sz="2400"/>
          </a:p>
          <a:p>
            <a:r>
              <a:rPr lang="en-US" altLang="en-US" sz="2400"/>
              <a:t>Cyber security is crucial in today’s digital world because it protects our data, devices, and online activities from attacks. Every individual, business, and government relies on technology, which makes security essential. Here are the main reasons why cyber security is important:</a:t>
            </a:r>
            <a:endParaRPr lang="en-US" altLang="en-US" sz="2400"/>
          </a:p>
        </p:txBody>
      </p:sp>
      <p:pic>
        <p:nvPicPr>
          <p:cNvPr id="3" name="Picture 2"/>
          <p:cNvPicPr/>
          <p:nvPr/>
        </p:nvPicPr>
        <p:blipFill>
          <a:blip r:embed="rId1"/>
          <a:stretch>
            <a:fillRect/>
          </a:stretch>
        </p:blipFill>
        <p:spPr>
          <a:xfrm>
            <a:off x="5181600" y="76200"/>
            <a:ext cx="4024630" cy="17284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cyber security </a:t>
            </a:r>
            <a:endParaRPr lang="en-US"/>
          </a:p>
        </p:txBody>
      </p:sp>
      <p:pic>
        <p:nvPicPr>
          <p:cNvPr id="5" name="Content Placeholder 4" descr="cyber security"/>
          <p:cNvPicPr>
            <a:picLocks noChangeAspect="1"/>
          </p:cNvPicPr>
          <p:nvPr>
            <p:ph idx="1"/>
          </p:nvPr>
        </p:nvPicPr>
        <p:blipFill>
          <a:blip r:embed="rId1"/>
          <a:stretch>
            <a:fillRect/>
          </a:stretch>
        </p:blipFill>
        <p:spPr>
          <a:xfrm>
            <a:off x="228600" y="1600200"/>
            <a:ext cx="7592060" cy="4271010"/>
          </a:xfrm>
          <a:prstGeom prst="rect">
            <a:avLst/>
          </a:prstGeom>
        </p:spPr>
      </p:pic>
      <p:sp>
        <p:nvSpPr>
          <p:cNvPr id="4" name="Slide Number Placeholder 3"/>
          <p:cNvSpPr>
            <a:spLocks noGrp="1"/>
          </p:cNvSpPr>
          <p:nvPr>
            <p:ph type="sldNum" sz="quarter" idx="12"/>
          </p:nvPr>
        </p:nvSpPr>
        <p:spPr/>
        <p:txBody>
          <a:bodyPr/>
          <a:p>
            <a:fld id="{1A76B34C-F6B3-4E97-8654-84B611A81F75}" type="slidenum">
              <a:rPr lang="en-US" smtClean="0"/>
            </a:fld>
            <a:endParaRPr lang="en-US"/>
          </a:p>
        </p:txBody>
      </p:sp>
    </p:spTree>
  </p:cSld>
  <p:clrMapOvr>
    <a:masterClrMapping/>
  </p:clrMapOvr>
</p:sld>
</file>

<file path=ppt/theme/theme1.xml><?xml version="1.0" encoding="utf-8"?>
<a:theme xmlns:a="http://schemas.openxmlformats.org/drawingml/2006/main" name="1_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Apex</Template>
  <TotalTime>0</TotalTime>
  <Words>3346</Words>
  <Application>WPS Presentation</Application>
  <PresentationFormat>On-screen Show (4:3)</PresentationFormat>
  <Paragraphs>139</Paragraphs>
  <Slides>7</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vt:lpstr>
      <vt:lpstr>SimSun</vt:lpstr>
      <vt:lpstr>Wingdings</vt:lpstr>
      <vt:lpstr>Wingdings 2</vt:lpstr>
      <vt:lpstr>Wingdings</vt:lpstr>
      <vt:lpstr>Wingdings 3</vt:lpstr>
      <vt:lpstr>Lucida Sans</vt:lpstr>
      <vt:lpstr>Book Antiqua</vt:lpstr>
      <vt:lpstr>Microsoft YaHei</vt:lpstr>
      <vt:lpstr>Arial Unicode MS</vt:lpstr>
      <vt:lpstr>Calibri</vt:lpstr>
      <vt:lpstr>1_Blue Waves</vt:lpstr>
      <vt:lpstr>cyber security</vt:lpstr>
      <vt:lpstr>What is cyber security? Cyber security:</vt:lpstr>
      <vt:lpstr>Cyber security</vt:lpstr>
      <vt:lpstr>Role of cyber security in business</vt:lpstr>
      <vt:lpstr>Scope of cyber security </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dc:title>
  <dc:creator>PG-5</dc:creator>
  <cp:lastModifiedBy>Bilal abid Abbasi</cp:lastModifiedBy>
  <cp:revision>8</cp:revision>
  <dcterms:created xsi:type="dcterms:W3CDTF">2025-11-17T04:32:00Z</dcterms:created>
  <dcterms:modified xsi:type="dcterms:W3CDTF">2025-11-17T11:02:15Z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010E52695EFA4AC78BBF07A5BEABB5C4_13</vt:lpwstr>
  </property>
  <property fmtid="{D5CDD505-2E9C-101B-9397-08002B2CF9AE}" pid="3" name="KSOProductBuildVer">
    <vt:lpwstr>1033-12.2.0.23155</vt:lpwstr>
  </property>
</Properties>
</file>